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0" r:id="rId2"/>
  </p:sldMasterIdLst>
  <p:notesMasterIdLst>
    <p:notesMasterId r:id="rId8"/>
  </p:notesMasterIdLst>
  <p:handoutMasterIdLst>
    <p:handoutMasterId r:id="rId9"/>
  </p:handoutMasterIdLst>
  <p:sldIdLst>
    <p:sldId id="256" r:id="rId3"/>
    <p:sldId id="483" r:id="rId4"/>
    <p:sldId id="484" r:id="rId5"/>
    <p:sldId id="486" r:id="rId6"/>
    <p:sldId id="485" r:id="rId7"/>
  </p:sldIdLst>
  <p:sldSz cx="9144000" cy="6858000" type="screen4x3"/>
  <p:notesSz cx="6735763" cy="986631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9CDA"/>
    <a:srgbClr val="FF3399"/>
    <a:srgbClr val="4A90D6"/>
    <a:srgbClr val="3333FF"/>
    <a:srgbClr val="00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5" autoAdjust="0"/>
    <p:restoredTop sz="94803" autoAdjust="0"/>
  </p:normalViewPr>
  <p:slideViewPr>
    <p:cSldViewPr>
      <p:cViewPr varScale="1">
        <p:scale>
          <a:sx n="119" d="100"/>
          <a:sy n="119" d="100"/>
        </p:scale>
        <p:origin x="950" y="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288"/>
    </p:cViewPr>
  </p:outlineViewPr>
  <p:notesTextViewPr>
    <p:cViewPr>
      <p:scale>
        <a:sx n="100" d="100"/>
        <a:sy n="100" d="100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A7F1FC-5139-4B53-950D-1C9694FEA9F2}" type="datetimeFigureOut">
              <a:rPr lang="zh-CN" altLang="en-US" smtClean="0"/>
              <a:t>2025/05/09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CB7AD7-BF62-4618-B176-AD5B7E51F9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94186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8831" cy="493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5373" y="0"/>
            <a:ext cx="2918831" cy="493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01700" y="739775"/>
            <a:ext cx="4932363" cy="370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577" y="4686499"/>
            <a:ext cx="5388610" cy="4439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1285"/>
            <a:ext cx="2918831" cy="493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5373" y="9371285"/>
            <a:ext cx="2918831" cy="493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71467E4D-9368-4ED7-9ABF-C21D5D6FDFA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488270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7221A0-4C41-4030-B4C0-2A3E1164DA2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8217093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D6F950-1C90-4F34-86D3-C95D18B4EDD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838726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E387E5-7207-4957-886B-13788905B4F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293978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750" y="1484313"/>
            <a:ext cx="405765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49800" y="1484313"/>
            <a:ext cx="405765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613C5A-EB2C-43B5-89A2-BD192E63CA2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2730625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C3D878-5595-4FD8-A09F-C77532EE12D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1148640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092BD4-6071-406D-9F3A-150E5739F67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47661069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7E99BB-7844-42B0-B3FC-9FE64E4BC56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0546310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A82366-C666-4DF2-9E83-35202A7C257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723539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4B2D80-0BAD-4C1A-B110-ED854251B6E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9877103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42BC5A-3D8A-47D9-A56E-9A889EAAD7D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6497878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0525" y="609600"/>
            <a:ext cx="2066925" cy="5522913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9750" y="609600"/>
            <a:ext cx="6048375" cy="5522913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66FDB1-0EAD-46F7-80B2-5B1035C8B33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255864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8BACBA-6BDF-4EA2-A5D3-760F66BBEE4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6016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695180-6E7D-4B0D-9DEE-A812B4B6B6D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323950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92B554-F8E5-4F8D-B185-AD8A84E8202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869665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750" y="1484313"/>
            <a:ext cx="405765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49800" y="1484313"/>
            <a:ext cx="405765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B9217B-FC5E-4536-A302-ED025A7935E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386984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0467F0-F186-4DCF-B5B2-F29FA03A0EF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641840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D9CAE7-8F23-4286-B2C4-FC636A21302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058901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828FE8-E024-4F80-B079-89F9E27D17F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449122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D54FF4-D085-496D-B0F3-1CE229AF0B6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143341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41DE15-E51E-4645-9C5E-7AA524FF4AA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324974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5456D2-7F3F-4045-95A9-E7B8C2DAAA4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048657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0525" y="381000"/>
            <a:ext cx="2066925" cy="5751513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9750" y="381000"/>
            <a:ext cx="6048375" cy="5751513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A62F29-CB66-462B-A5EA-265DFABC924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28339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1" descr="a1"/>
          <p:cNvSpPr>
            <a:spLocks noChangeArrowheads="1"/>
          </p:cNvSpPr>
          <p:nvPr/>
        </p:nvSpPr>
        <p:spPr bwMode="auto">
          <a:xfrm>
            <a:off x="7380288" y="0"/>
            <a:ext cx="1763712" cy="1700213"/>
          </a:xfrm>
          <a:prstGeom prst="rect">
            <a:avLst/>
          </a:prstGeom>
          <a:blipFill dpi="0" rotWithShape="1">
            <a:blip r:embed="rId1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b="1"/>
          </a:p>
        </p:txBody>
      </p:sp>
      <p:sp>
        <p:nvSpPr>
          <p:cNvPr id="1027" name="Rectangle 9" descr="a2"/>
          <p:cNvSpPr>
            <a:spLocks noChangeArrowheads="1"/>
          </p:cNvSpPr>
          <p:nvPr/>
        </p:nvSpPr>
        <p:spPr bwMode="auto">
          <a:xfrm>
            <a:off x="0" y="1341438"/>
            <a:ext cx="3348038" cy="5516562"/>
          </a:xfrm>
          <a:prstGeom prst="rect">
            <a:avLst/>
          </a:prstGeom>
          <a:blipFill dpi="0" rotWithShape="1">
            <a:blip r:embed="rId1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b="1"/>
          </a:p>
        </p:txBody>
      </p:sp>
      <p:sp>
        <p:nvSpPr>
          <p:cNvPr id="1028" name="Rectangle 31"/>
          <p:cNvSpPr>
            <a:spLocks noChangeArrowheads="1"/>
          </p:cNvSpPr>
          <p:nvPr/>
        </p:nvSpPr>
        <p:spPr bwMode="auto">
          <a:xfrm>
            <a:off x="0" y="1341438"/>
            <a:ext cx="9144000" cy="100806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b="1"/>
          </a:p>
        </p:txBody>
      </p:sp>
      <p:sp>
        <p:nvSpPr>
          <p:cNvPr id="1029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484313"/>
            <a:ext cx="82677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3"/>
            <a:r>
              <a:rPr lang="zh-CN"/>
              <a:t>第五级</a:t>
            </a:r>
          </a:p>
        </p:txBody>
      </p:sp>
      <p:sp>
        <p:nvSpPr>
          <p:cNvPr id="1030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2057400" y="609600"/>
            <a:ext cx="60198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581400" y="6400800"/>
            <a:ext cx="2209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1000" y="6400800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fld id="{F5E5AD93-AEDB-46A1-B3C6-2736D424BD7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3" name="Rectangle 10"/>
          <p:cNvSpPr>
            <a:spLocks noChangeArrowheads="1"/>
          </p:cNvSpPr>
          <p:nvPr userDrawn="1"/>
        </p:nvSpPr>
        <p:spPr bwMode="auto">
          <a:xfrm>
            <a:off x="5867400" y="6381750"/>
            <a:ext cx="30591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r>
              <a:rPr lang="en-US" altLang="zh-CN" sz="2000" b="1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b="1">
                <a:solidFill>
                  <a:srgbClr val="012E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000" b="1">
                <a:solidFill>
                  <a:srgbClr val="012E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at-sen </a:t>
            </a:r>
            <a:r>
              <a:rPr lang="en-US" altLang="zh-CN" sz="2000" b="1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000" b="1">
                <a:solidFill>
                  <a:srgbClr val="012E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niversity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v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2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3"/>
          <p:cNvSpPr>
            <a:spLocks noChangeArrowheads="1"/>
          </p:cNvSpPr>
          <p:nvPr/>
        </p:nvSpPr>
        <p:spPr bwMode="auto">
          <a:xfrm>
            <a:off x="0" y="152400"/>
            <a:ext cx="9144000" cy="9144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b="1"/>
          </a:p>
        </p:txBody>
      </p:sp>
      <p:sp>
        <p:nvSpPr>
          <p:cNvPr id="2051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484313"/>
            <a:ext cx="82677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3"/>
            <a:r>
              <a:rPr lang="zh-CN"/>
              <a:t>第五级</a:t>
            </a:r>
          </a:p>
        </p:txBody>
      </p:sp>
      <p:sp>
        <p:nvSpPr>
          <p:cNvPr id="2052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191000" y="6534150"/>
            <a:ext cx="838200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pPr>
              <a:defRPr/>
            </a:pPr>
            <a:fld id="{ECB8F9AB-0663-4DF6-990C-29278B1D932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053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1676400" y="381000"/>
            <a:ext cx="541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2054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534150"/>
            <a:ext cx="1905000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5" name="Rectangle 10"/>
          <p:cNvSpPr>
            <a:spLocks noChangeArrowheads="1"/>
          </p:cNvSpPr>
          <p:nvPr/>
        </p:nvSpPr>
        <p:spPr bwMode="auto">
          <a:xfrm>
            <a:off x="5867400" y="6381750"/>
            <a:ext cx="30591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r>
              <a:rPr lang="en-US" altLang="zh-CN" sz="2000" b="1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b="1">
                <a:solidFill>
                  <a:srgbClr val="012E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000" b="1">
                <a:solidFill>
                  <a:srgbClr val="012E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at-sen </a:t>
            </a:r>
            <a:r>
              <a:rPr lang="en-US" altLang="zh-CN" sz="2000" b="1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000" b="1">
                <a:solidFill>
                  <a:srgbClr val="012E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niversity</a:t>
            </a:r>
          </a:p>
        </p:txBody>
      </p:sp>
      <p:pic>
        <p:nvPicPr>
          <p:cNvPr id="2056" name="图片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52400"/>
            <a:ext cx="9525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v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2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143000"/>
            <a:ext cx="7772400" cy="1470025"/>
          </a:xfrm>
        </p:spPr>
        <p:txBody>
          <a:bodyPr/>
          <a:lstStyle/>
          <a:p>
            <a:r>
              <a:rPr lang="zh-CN" altLang="en-US" sz="4400" dirty="0"/>
              <a:t>高频电路</a:t>
            </a:r>
          </a:p>
        </p:txBody>
      </p:sp>
      <p:sp>
        <p:nvSpPr>
          <p:cNvPr id="4099" name="Rectangle 5"/>
          <p:cNvSpPr>
            <a:spLocks noChangeArrowheads="1"/>
          </p:cNvSpPr>
          <p:nvPr/>
        </p:nvSpPr>
        <p:spPr bwMode="auto">
          <a:xfrm>
            <a:off x="152400" y="228600"/>
            <a:ext cx="5181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4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中山大學</a:t>
            </a:r>
          </a:p>
        </p:txBody>
      </p:sp>
      <p:sp>
        <p:nvSpPr>
          <p:cNvPr id="10245" name="Rectangle 3"/>
          <p:cNvSpPr txBox="1">
            <a:spLocks noChangeArrowheads="1"/>
          </p:cNvSpPr>
          <p:nvPr/>
        </p:nvSpPr>
        <p:spPr bwMode="auto">
          <a:xfrm>
            <a:off x="3810000" y="4648200"/>
            <a:ext cx="50292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Wingdings" pitchFamily="2" charset="2"/>
              <a:buNone/>
              <a:defRPr/>
            </a:pPr>
            <a:r>
              <a:rPr lang="zh-CN" altLang="en-US" sz="3200" b="1" dirty="0">
                <a:latin typeface="楷体" pitchFamily="49" charset="-122"/>
                <a:ea typeface="楷体" pitchFamily="49" charset="-122"/>
              </a:rPr>
              <a:t>郑少勇</a:t>
            </a:r>
            <a:endParaRPr lang="en-US" altLang="zh-CN" sz="3200" b="1" dirty="0">
              <a:latin typeface="楷体" pitchFamily="49" charset="-122"/>
              <a:ea typeface="楷体" pitchFamily="49" charset="-122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Wingdings" pitchFamily="2" charset="2"/>
              <a:buNone/>
              <a:defRPr/>
            </a:pPr>
            <a:r>
              <a:rPr lang="zh-CN" altLang="en-US" sz="2400" dirty="0"/>
              <a:t>中山大学电子与信息工程学院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619 </a:t>
            </a:r>
            <a:r>
              <a:rPr lang="en-US" altLang="zh-CN" sz="2400" dirty="0" err="1">
                <a:latin typeface="Times New Roman" pitchFamily="18" charset="0"/>
                <a:ea typeface="+mn-ea"/>
                <a:cs typeface="Times New Roman" pitchFamily="18" charset="0"/>
              </a:rPr>
              <a:t>Email:zhengshaoy@mail.sysu.edu.cn</a:t>
            </a:r>
            <a:endParaRPr lang="en-US" altLang="zh-CN" sz="2400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733800" y="2971800"/>
            <a:ext cx="50292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Wingdings" pitchFamily="2" charset="2"/>
              <a:buNone/>
              <a:defRPr/>
            </a:pPr>
            <a:r>
              <a:rPr lang="zh-CN" altLang="en-US" sz="3200" b="1" dirty="0">
                <a:latin typeface="Times New Roman" pitchFamily="18" charset="0"/>
                <a:ea typeface="+mn-ea"/>
                <a:cs typeface="Times New Roman" pitchFamily="18" charset="0"/>
              </a:rPr>
              <a:t>实验四 </a:t>
            </a:r>
            <a:r>
              <a:rPr lang="zh-CN" altLang="zh-CN" sz="3200" b="1" dirty="0">
                <a:latin typeface="Times New Roman" pitchFamily="18" charset="0"/>
                <a:ea typeface="+mn-ea"/>
                <a:cs typeface="Times New Roman" pitchFamily="18" charset="0"/>
              </a:rPr>
              <a:t>振幅调制</a:t>
            </a:r>
            <a:endParaRPr lang="en-US" altLang="zh-CN" sz="3200" b="1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381000"/>
            <a:ext cx="5410200" cy="457200"/>
          </a:xfrm>
        </p:spPr>
        <p:txBody>
          <a:bodyPr/>
          <a:lstStyle/>
          <a:p>
            <a:pPr algn="l" eaLnBrk="1" hangingPunct="1"/>
            <a:r>
              <a:rPr lang="zh-CN" altLang="en-US" sz="4000" dirty="0">
                <a:latin typeface="Times New Roman" panose="02020603050405020304" pitchFamily="18" charset="0"/>
                <a:sym typeface="Arial" panose="020B0604020202020204" pitchFamily="34" charset="0"/>
              </a:rPr>
              <a:t>实验目的</a:t>
            </a:r>
            <a:endParaRPr lang="en-US" altLang="zh-CN" sz="4000" dirty="0">
              <a:latin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2291" name="Rectangle 3"/>
          <p:cNvSpPr txBox="1">
            <a:spLocks noChangeArrowheads="1"/>
          </p:cNvSpPr>
          <p:nvPr/>
        </p:nvSpPr>
        <p:spPr bwMode="auto">
          <a:xfrm>
            <a:off x="609600" y="1338263"/>
            <a:ext cx="8320088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v"/>
              <a:defRPr/>
            </a:pPr>
            <a:r>
              <a:rPr lang="zh-CN" altLang="en-US" sz="3200" b="1" dirty="0">
                <a:latin typeface="+mj-ea"/>
                <a:ea typeface="+mj-ea"/>
              </a:rPr>
              <a:t> 实验目的</a:t>
            </a:r>
            <a:endParaRPr lang="en-US" altLang="zh-CN" sz="3200" dirty="0">
              <a:latin typeface="Times New Roman" pitchFamily="18" charset="0"/>
              <a:ea typeface="PMingLiU" pitchFamily="18" charset="-12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85688" y="1828842"/>
            <a:ext cx="8153400" cy="38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通过实验了解振幅调制的工作原理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掌握用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MC1496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来实现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DSB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的方法，并研究已调波与调制信号，载波之间的关系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掌握用示波器测量调幅系数的方法</a:t>
            </a:r>
          </a:p>
          <a:p>
            <a:pPr marL="360000" indent="0">
              <a:lnSpc>
                <a:spcPct val="120000"/>
              </a:lnSpc>
              <a:defRPr/>
            </a:pPr>
            <a:endParaRPr lang="zh-CN" altLang="en-US" sz="2200" dirty="0"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42676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381000"/>
            <a:ext cx="5410200" cy="457200"/>
          </a:xfrm>
        </p:spPr>
        <p:txBody>
          <a:bodyPr/>
          <a:lstStyle/>
          <a:p>
            <a:pPr algn="l" eaLnBrk="1" hangingPunct="1"/>
            <a:r>
              <a:rPr lang="zh-CN" altLang="en-US" sz="4000" dirty="0">
                <a:latin typeface="Times New Roman" panose="02020603050405020304" pitchFamily="18" charset="0"/>
                <a:sym typeface="Arial" panose="020B0604020202020204" pitchFamily="34" charset="0"/>
              </a:rPr>
              <a:t>实验内容</a:t>
            </a:r>
            <a:endParaRPr lang="en-US" altLang="zh-CN" sz="4000" dirty="0">
              <a:latin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2291" name="Rectangle 3"/>
          <p:cNvSpPr txBox="1">
            <a:spLocks noChangeArrowheads="1"/>
          </p:cNvSpPr>
          <p:nvPr/>
        </p:nvSpPr>
        <p:spPr bwMode="auto">
          <a:xfrm>
            <a:off x="609600" y="1338263"/>
            <a:ext cx="8320088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v"/>
              <a:defRPr/>
            </a:pPr>
            <a:r>
              <a:rPr lang="zh-CN" altLang="en-US" sz="3200" b="1" dirty="0">
                <a:latin typeface="+mj-ea"/>
                <a:ea typeface="+mj-ea"/>
              </a:rPr>
              <a:t> 实验内容</a:t>
            </a:r>
            <a:endParaRPr lang="en-US" altLang="zh-CN" sz="3200" dirty="0">
              <a:latin typeface="Times New Roman" pitchFamily="18" charset="0"/>
              <a:ea typeface="PMingLiU" pitchFamily="18" charset="-12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727372" y="1828800"/>
            <a:ext cx="8416628" cy="335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lvl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用示波器观察正常调幅波波形，并测量其调幅系数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用示波器观察抑制载波的双边带波形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用示波器观察调制信号为方波、三角波的调幅波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556604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381000"/>
            <a:ext cx="5410200" cy="457200"/>
          </a:xfrm>
        </p:spPr>
        <p:txBody>
          <a:bodyPr/>
          <a:lstStyle/>
          <a:p>
            <a:pPr algn="l" eaLnBrk="1" hangingPunct="1"/>
            <a:r>
              <a:rPr lang="zh-CN" altLang="en-US" sz="4000" dirty="0">
                <a:latin typeface="Times New Roman" panose="02020603050405020304" pitchFamily="18" charset="0"/>
                <a:sym typeface="Arial" panose="020B0604020202020204" pitchFamily="34" charset="0"/>
              </a:rPr>
              <a:t>实验内容</a:t>
            </a:r>
            <a:endParaRPr lang="en-US" altLang="zh-CN" sz="4000" dirty="0">
              <a:latin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727372" y="1828800"/>
            <a:ext cx="8416628" cy="335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lvl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正常调幅波波形及其调幅系数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抑制载波双边带波形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调制信号为方波、三角波的调幅波</a:t>
            </a:r>
            <a:endParaRPr lang="zh-CN" altLang="en-US" sz="4800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zh-CN" sz="2400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09600" y="1338263"/>
            <a:ext cx="8320088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v"/>
              <a:defRPr/>
            </a:pPr>
            <a:r>
              <a:rPr lang="zh-CN" altLang="en-US" sz="3200" b="1" dirty="0">
                <a:latin typeface="+mj-ea"/>
                <a:ea typeface="+mj-ea"/>
              </a:rPr>
              <a:t> 检查内容</a:t>
            </a:r>
            <a:endParaRPr lang="en-US" altLang="zh-CN" sz="3200" dirty="0">
              <a:latin typeface="Times New Roman" pitchFamily="18" charset="0"/>
              <a:ea typeface="PMingLiU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4858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381000"/>
            <a:ext cx="5410200" cy="457200"/>
          </a:xfrm>
        </p:spPr>
        <p:txBody>
          <a:bodyPr/>
          <a:lstStyle/>
          <a:p>
            <a:pPr algn="l" eaLnBrk="1" hangingPunct="1"/>
            <a:r>
              <a:rPr lang="zh-CN" altLang="en-US" sz="4000" dirty="0">
                <a:latin typeface="Times New Roman" panose="02020603050405020304" pitchFamily="18" charset="0"/>
                <a:sym typeface="Arial" panose="020B0604020202020204" pitchFamily="34" charset="0"/>
              </a:rPr>
              <a:t>预习</a:t>
            </a:r>
            <a:endParaRPr lang="en-US" altLang="zh-CN" sz="4000" dirty="0">
              <a:latin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2291" name="Rectangle 3"/>
          <p:cNvSpPr txBox="1">
            <a:spLocks noChangeArrowheads="1"/>
          </p:cNvSpPr>
          <p:nvPr/>
        </p:nvSpPr>
        <p:spPr bwMode="auto">
          <a:xfrm>
            <a:off x="609600" y="1338263"/>
            <a:ext cx="8320088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v"/>
              <a:defRPr/>
            </a:pPr>
            <a:r>
              <a:rPr lang="zh-CN" altLang="en-US" sz="3200" b="1" dirty="0">
                <a:latin typeface="+mj-ea"/>
                <a:ea typeface="+mj-ea"/>
              </a:rPr>
              <a:t>下一个实验</a:t>
            </a:r>
            <a:endParaRPr lang="en-US" altLang="zh-CN" sz="3200" dirty="0">
              <a:latin typeface="Times New Roman" pitchFamily="18" charset="0"/>
              <a:ea typeface="PMingLiU" pitchFamily="18" charset="-12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85688" y="1828842"/>
            <a:ext cx="8458192" cy="761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800" dirty="0"/>
              <a:t>振幅</a:t>
            </a:r>
            <a:r>
              <a:rPr lang="zh-CN" altLang="zh-CN" sz="2800" dirty="0"/>
              <a:t>解调</a:t>
            </a:r>
            <a:r>
              <a:rPr lang="zh-CN" altLang="en-US" sz="2800" dirty="0"/>
              <a:t>器</a:t>
            </a:r>
            <a:endParaRPr lang="en-US" altLang="zh-CN"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416329794"/>
      </p:ext>
    </p:extLst>
  </p:cSld>
  <p:clrMapOvr>
    <a:masterClrMapping/>
  </p:clrMapOvr>
</p:sld>
</file>

<file path=ppt/theme/theme1.xml><?xml version="1.0" encoding="utf-8"?>
<a:theme xmlns:a="http://schemas.openxmlformats.org/drawingml/2006/main" name="1_213TGp_natural_light_v2">
  <a:themeElements>
    <a:clrScheme name="1_213TGp_natural_light_v2 2">
      <a:dk1>
        <a:srgbClr val="000000"/>
      </a:dk1>
      <a:lt1>
        <a:srgbClr val="FFFFFF"/>
      </a:lt1>
      <a:dk2>
        <a:srgbClr val="003399"/>
      </a:dk2>
      <a:lt2>
        <a:srgbClr val="C0C0C0"/>
      </a:lt2>
      <a:accent1>
        <a:srgbClr val="5E9CDA"/>
      </a:accent1>
      <a:accent2>
        <a:srgbClr val="93C052"/>
      </a:accent2>
      <a:accent3>
        <a:srgbClr val="FFFFFF"/>
      </a:accent3>
      <a:accent4>
        <a:srgbClr val="000000"/>
      </a:accent4>
      <a:accent5>
        <a:srgbClr val="B6CBEA"/>
      </a:accent5>
      <a:accent6>
        <a:srgbClr val="85AE49"/>
      </a:accent6>
      <a:hlink>
        <a:srgbClr val="FF9933"/>
      </a:hlink>
      <a:folHlink>
        <a:srgbClr val="855ADA"/>
      </a:folHlink>
    </a:clrScheme>
    <a:fontScheme name="1_213TGp_natural_light_v2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213TGp_natural_light_v2 1">
        <a:dk1>
          <a:srgbClr val="000000"/>
        </a:dk1>
        <a:lt1>
          <a:srgbClr val="FFFFFF"/>
        </a:lt1>
        <a:dk2>
          <a:srgbClr val="142288"/>
        </a:dk2>
        <a:lt2>
          <a:srgbClr val="C0C0C0"/>
        </a:lt2>
        <a:accent1>
          <a:srgbClr val="39998E"/>
        </a:accent1>
        <a:accent2>
          <a:srgbClr val="14CAEE"/>
        </a:accent2>
        <a:accent3>
          <a:srgbClr val="FFFFFF"/>
        </a:accent3>
        <a:accent4>
          <a:srgbClr val="000000"/>
        </a:accent4>
        <a:accent5>
          <a:srgbClr val="AECAC6"/>
        </a:accent5>
        <a:accent6>
          <a:srgbClr val="11B7D8"/>
        </a:accent6>
        <a:hlink>
          <a:srgbClr val="8963E9"/>
        </a:hlink>
        <a:folHlink>
          <a:srgbClr val="3067B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213TGp_natural_light_v2 2">
        <a:dk1>
          <a:srgbClr val="000000"/>
        </a:dk1>
        <a:lt1>
          <a:srgbClr val="FFFFFF"/>
        </a:lt1>
        <a:dk2>
          <a:srgbClr val="003399"/>
        </a:dk2>
        <a:lt2>
          <a:srgbClr val="C0C0C0"/>
        </a:lt2>
        <a:accent1>
          <a:srgbClr val="5E9CDA"/>
        </a:accent1>
        <a:accent2>
          <a:srgbClr val="93C052"/>
        </a:accent2>
        <a:accent3>
          <a:srgbClr val="FFFFFF"/>
        </a:accent3>
        <a:accent4>
          <a:srgbClr val="000000"/>
        </a:accent4>
        <a:accent5>
          <a:srgbClr val="B6CBEA"/>
        </a:accent5>
        <a:accent6>
          <a:srgbClr val="85AE49"/>
        </a:accent6>
        <a:hlink>
          <a:srgbClr val="FF9933"/>
        </a:hlink>
        <a:folHlink>
          <a:srgbClr val="855AD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213TGp_natural_light_v2 3">
        <a:dk1>
          <a:srgbClr val="000000"/>
        </a:dk1>
        <a:lt1>
          <a:srgbClr val="FFFFFF"/>
        </a:lt1>
        <a:dk2>
          <a:srgbClr val="124458"/>
        </a:dk2>
        <a:lt2>
          <a:srgbClr val="C0C0C0"/>
        </a:lt2>
        <a:accent1>
          <a:srgbClr val="98C13D"/>
        </a:accent1>
        <a:accent2>
          <a:srgbClr val="40BAD2"/>
        </a:accent2>
        <a:accent3>
          <a:srgbClr val="FFFFFF"/>
        </a:accent3>
        <a:accent4>
          <a:srgbClr val="000000"/>
        </a:accent4>
        <a:accent5>
          <a:srgbClr val="CADDAF"/>
        </a:accent5>
        <a:accent6>
          <a:srgbClr val="39A8BE"/>
        </a:accent6>
        <a:hlink>
          <a:srgbClr val="715EE6"/>
        </a:hlink>
        <a:folHlink>
          <a:srgbClr val="238DD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213TGp_natural_light_v2">
  <a:themeElements>
    <a:clrScheme name="2_213TGp_natural_light_v2 2">
      <a:dk1>
        <a:srgbClr val="000000"/>
      </a:dk1>
      <a:lt1>
        <a:srgbClr val="FFFFFF"/>
      </a:lt1>
      <a:dk2>
        <a:srgbClr val="003399"/>
      </a:dk2>
      <a:lt2>
        <a:srgbClr val="C0C0C0"/>
      </a:lt2>
      <a:accent1>
        <a:srgbClr val="5E9CDA"/>
      </a:accent1>
      <a:accent2>
        <a:srgbClr val="93C052"/>
      </a:accent2>
      <a:accent3>
        <a:srgbClr val="FFFFFF"/>
      </a:accent3>
      <a:accent4>
        <a:srgbClr val="000000"/>
      </a:accent4>
      <a:accent5>
        <a:srgbClr val="B6CBEA"/>
      </a:accent5>
      <a:accent6>
        <a:srgbClr val="85AE49"/>
      </a:accent6>
      <a:hlink>
        <a:srgbClr val="FF9933"/>
      </a:hlink>
      <a:folHlink>
        <a:srgbClr val="855ADA"/>
      </a:folHlink>
    </a:clrScheme>
    <a:fontScheme name="2_213TGp_natural_light_v2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213TGp_natural_light_v2 1">
        <a:dk1>
          <a:srgbClr val="000000"/>
        </a:dk1>
        <a:lt1>
          <a:srgbClr val="FFFFFF"/>
        </a:lt1>
        <a:dk2>
          <a:srgbClr val="142288"/>
        </a:dk2>
        <a:lt2>
          <a:srgbClr val="C0C0C0"/>
        </a:lt2>
        <a:accent1>
          <a:srgbClr val="39998E"/>
        </a:accent1>
        <a:accent2>
          <a:srgbClr val="14CAEE"/>
        </a:accent2>
        <a:accent3>
          <a:srgbClr val="FFFFFF"/>
        </a:accent3>
        <a:accent4>
          <a:srgbClr val="000000"/>
        </a:accent4>
        <a:accent5>
          <a:srgbClr val="AECAC6"/>
        </a:accent5>
        <a:accent6>
          <a:srgbClr val="11B7D8"/>
        </a:accent6>
        <a:hlink>
          <a:srgbClr val="8963E9"/>
        </a:hlink>
        <a:folHlink>
          <a:srgbClr val="3067B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213TGp_natural_light_v2 2">
        <a:dk1>
          <a:srgbClr val="000000"/>
        </a:dk1>
        <a:lt1>
          <a:srgbClr val="FFFFFF"/>
        </a:lt1>
        <a:dk2>
          <a:srgbClr val="003399"/>
        </a:dk2>
        <a:lt2>
          <a:srgbClr val="C0C0C0"/>
        </a:lt2>
        <a:accent1>
          <a:srgbClr val="5E9CDA"/>
        </a:accent1>
        <a:accent2>
          <a:srgbClr val="93C052"/>
        </a:accent2>
        <a:accent3>
          <a:srgbClr val="FFFFFF"/>
        </a:accent3>
        <a:accent4>
          <a:srgbClr val="000000"/>
        </a:accent4>
        <a:accent5>
          <a:srgbClr val="B6CBEA"/>
        </a:accent5>
        <a:accent6>
          <a:srgbClr val="85AE49"/>
        </a:accent6>
        <a:hlink>
          <a:srgbClr val="FF9933"/>
        </a:hlink>
        <a:folHlink>
          <a:srgbClr val="855AD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213TGp_natural_light_v2 3">
        <a:dk1>
          <a:srgbClr val="000000"/>
        </a:dk1>
        <a:lt1>
          <a:srgbClr val="FFFFFF"/>
        </a:lt1>
        <a:dk2>
          <a:srgbClr val="124458"/>
        </a:dk2>
        <a:lt2>
          <a:srgbClr val="C0C0C0"/>
        </a:lt2>
        <a:accent1>
          <a:srgbClr val="98C13D"/>
        </a:accent1>
        <a:accent2>
          <a:srgbClr val="40BAD2"/>
        </a:accent2>
        <a:accent3>
          <a:srgbClr val="FFFFFF"/>
        </a:accent3>
        <a:accent4>
          <a:srgbClr val="000000"/>
        </a:accent4>
        <a:accent5>
          <a:srgbClr val="CADDAF"/>
        </a:accent5>
        <a:accent6>
          <a:srgbClr val="39A8BE"/>
        </a:accent6>
        <a:hlink>
          <a:srgbClr val="715EE6"/>
        </a:hlink>
        <a:folHlink>
          <a:srgbClr val="238DD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dong</Template>
  <TotalTime>3723</TotalTime>
  <Pages>0</Pages>
  <Words>148</Words>
  <Characters>0</Characters>
  <Application>Microsoft Office PowerPoint</Application>
  <DocSecurity>0</DocSecurity>
  <PresentationFormat>全屏显示(4:3)</PresentationFormat>
  <Lines>0</Lines>
  <Paragraphs>23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PMingLiU</vt:lpstr>
      <vt:lpstr>楷体</vt:lpstr>
      <vt:lpstr>楷体_GB2312</vt:lpstr>
      <vt:lpstr>隶书</vt:lpstr>
      <vt:lpstr>宋体</vt:lpstr>
      <vt:lpstr>Arial</vt:lpstr>
      <vt:lpstr>Times New Roman</vt:lpstr>
      <vt:lpstr>Wingdings</vt:lpstr>
      <vt:lpstr>1_213TGp_natural_light_v2</vt:lpstr>
      <vt:lpstr>2_213TGp_natural_light_v2</vt:lpstr>
      <vt:lpstr>高频电路</vt:lpstr>
      <vt:lpstr>实验目的</vt:lpstr>
      <vt:lpstr>实验内容</vt:lpstr>
      <vt:lpstr>实验内容</vt:lpstr>
      <vt:lpstr>预习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Shawn</dc:creator>
  <cp:keywords/>
  <dc:description/>
  <cp:lastModifiedBy>SYSU</cp:lastModifiedBy>
  <cp:revision>634</cp:revision>
  <cp:lastPrinted>1601-01-01T00:00:00Z</cp:lastPrinted>
  <dcterms:created xsi:type="dcterms:W3CDTF">1601-01-01T00:00:00Z</dcterms:created>
  <dcterms:modified xsi:type="dcterms:W3CDTF">2025-05-09T05:40:46Z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2052-6.6.0.2461</vt:lpwstr>
  </property>
</Properties>
</file>