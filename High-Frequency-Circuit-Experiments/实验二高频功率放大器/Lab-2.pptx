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8"/>
  </p:notesMasterIdLst>
  <p:handoutMasterIdLst>
    <p:handoutMasterId r:id="rId9"/>
  </p:handoutMasterIdLst>
  <p:sldIdLst>
    <p:sldId id="256" r:id="rId3"/>
    <p:sldId id="483" r:id="rId4"/>
    <p:sldId id="484" r:id="rId5"/>
    <p:sldId id="486" r:id="rId6"/>
    <p:sldId id="485" r:id="rId7"/>
  </p:sldIdLst>
  <p:sldSz cx="9144000" cy="6858000" type="screen4x3"/>
  <p:notesSz cx="6735763" cy="98663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CDA"/>
    <a:srgbClr val="FF3399"/>
    <a:srgbClr val="4A90D6"/>
    <a:srgbClr val="3333FF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5" autoAdjust="0"/>
    <p:restoredTop sz="94803" autoAdjust="0"/>
  </p:normalViewPr>
  <p:slideViewPr>
    <p:cSldViewPr>
      <p:cViewPr varScale="1">
        <p:scale>
          <a:sx n="80" d="100"/>
          <a:sy n="80" d="100"/>
        </p:scale>
        <p:origin x="56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288"/>
    </p:cViewPr>
  </p:outlin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7F1FC-5139-4B53-950D-1C9694FEA9F2}" type="datetimeFigureOut">
              <a:rPr lang="zh-CN" altLang="en-US" smtClean="0"/>
              <a:t>2026/05/15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B7AD7-BF62-4618-B176-AD5B7E51F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418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373" y="0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01700" y="739775"/>
            <a:ext cx="4932363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577" y="4686499"/>
            <a:ext cx="5388610" cy="443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285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373" y="9371285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1467E4D-9368-4ED7-9ABF-C21D5D6FDF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827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221A0-4C41-4030-B4C0-2A3E1164DA2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821709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6F950-1C90-4F34-86D3-C95D18B4ED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83872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387E5-7207-4957-886B-13788905B4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293978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980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13C5A-EB2C-43B5-89A2-BD192E63CA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273062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3D878-5595-4FD8-A09F-C77532EE12D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114864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092BD4-6071-406D-9F3A-150E5739F6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766106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E99BB-7844-42B0-B3FC-9FE64E4BC56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54631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A82366-C666-4DF2-9E83-35202A7C25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723539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B2D80-0BAD-4C1A-B110-ED854251B6E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987710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42BC5A-3D8A-47D9-A56E-9A889EAAD7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649787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609600"/>
            <a:ext cx="2066925" cy="5522913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609600"/>
            <a:ext cx="6048375" cy="5522913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6FDB1-0EAD-46F7-80B2-5B1035C8B3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25586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8BACBA-6BDF-4EA2-A5D3-760F66BBEE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01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695180-6E7D-4B0D-9DEE-A812B4B6B6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2395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2B554-F8E5-4F8D-B185-AD8A84E820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69665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980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B9217B-FC5E-4536-A302-ED025A7935E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8698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0467F0-F186-4DCF-B5B2-F29FA03A0E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41840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9CAE7-8F23-4286-B2C4-FC636A21302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5890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28FE8-E024-4F80-B079-89F9E27D17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49122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D54FF4-D085-496D-B0F3-1CE229AF0B6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4334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41DE15-E51E-4645-9C5E-7AA524FF4A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24974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5456D2-7F3F-4045-95A9-E7B8C2DAAA4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4865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381000"/>
            <a:ext cx="2066925" cy="5751513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381000"/>
            <a:ext cx="6048375" cy="5751513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62F29-CB66-462B-A5EA-265DFABC92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8339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 descr="a1"/>
          <p:cNvSpPr>
            <a:spLocks noChangeArrowheads="1"/>
          </p:cNvSpPr>
          <p:nvPr/>
        </p:nvSpPr>
        <p:spPr bwMode="auto">
          <a:xfrm>
            <a:off x="7380288" y="0"/>
            <a:ext cx="1763712" cy="1700213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1027" name="Rectangle 9" descr="a2"/>
          <p:cNvSpPr>
            <a:spLocks noChangeArrowheads="1"/>
          </p:cNvSpPr>
          <p:nvPr/>
        </p:nvSpPr>
        <p:spPr bwMode="auto">
          <a:xfrm>
            <a:off x="0" y="1341438"/>
            <a:ext cx="3348038" cy="5516562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1028" name="Rectangle 31"/>
          <p:cNvSpPr>
            <a:spLocks noChangeArrowheads="1"/>
          </p:cNvSpPr>
          <p:nvPr/>
        </p:nvSpPr>
        <p:spPr bwMode="auto">
          <a:xfrm>
            <a:off x="0" y="1341438"/>
            <a:ext cx="9144000" cy="1008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84313"/>
            <a:ext cx="82677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3"/>
            <a:r>
              <a:rPr lang="zh-CN"/>
              <a:t>第五级</a:t>
            </a:r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2057400" y="609600"/>
            <a:ext cx="6019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81400" y="6400800"/>
            <a:ext cx="2209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1000" y="64008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fld id="{F5E5AD93-AEDB-46A1-B3C6-2736D424BD7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3" name="Rectangle 10"/>
          <p:cNvSpPr>
            <a:spLocks noChangeArrowheads="1"/>
          </p:cNvSpPr>
          <p:nvPr userDrawn="1"/>
        </p:nvSpPr>
        <p:spPr bwMode="auto">
          <a:xfrm>
            <a:off x="5867400" y="6381750"/>
            <a:ext cx="30591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at-sen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niversity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0" y="152400"/>
            <a:ext cx="9144000" cy="914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2051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84313"/>
            <a:ext cx="82677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3"/>
            <a:r>
              <a:rPr lang="zh-CN"/>
              <a:t>第五级</a:t>
            </a:r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91000" y="6534150"/>
            <a:ext cx="8382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fld id="{ECB8F9AB-0663-4DF6-990C-29278B1D932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3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381000"/>
            <a:ext cx="541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54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4150"/>
            <a:ext cx="19050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10"/>
          <p:cNvSpPr>
            <a:spLocks noChangeArrowheads="1"/>
          </p:cNvSpPr>
          <p:nvPr/>
        </p:nvSpPr>
        <p:spPr bwMode="auto">
          <a:xfrm>
            <a:off x="5867400" y="6381750"/>
            <a:ext cx="30591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at-sen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niversity</a:t>
            </a:r>
          </a:p>
        </p:txBody>
      </p:sp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52400"/>
            <a:ext cx="9525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1470025"/>
          </a:xfrm>
        </p:spPr>
        <p:txBody>
          <a:bodyPr/>
          <a:lstStyle/>
          <a:p>
            <a:r>
              <a:rPr lang="zh-CN" altLang="en-US" sz="4400" dirty="0"/>
              <a:t>高频电路</a:t>
            </a:r>
          </a:p>
        </p:txBody>
      </p:sp>
      <p:sp>
        <p:nvSpPr>
          <p:cNvPr id="4099" name="Rectangle 5"/>
          <p:cNvSpPr>
            <a:spLocks noChangeArrowheads="1"/>
          </p:cNvSpPr>
          <p:nvPr/>
        </p:nvSpPr>
        <p:spPr bwMode="auto">
          <a:xfrm>
            <a:off x="152400" y="228600"/>
            <a:ext cx="5181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4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中山大學</a:t>
            </a:r>
          </a:p>
        </p:txBody>
      </p:sp>
      <p:sp>
        <p:nvSpPr>
          <p:cNvPr id="10245" name="Rectangle 3"/>
          <p:cNvSpPr txBox="1">
            <a:spLocks noChangeArrowheads="1"/>
          </p:cNvSpPr>
          <p:nvPr/>
        </p:nvSpPr>
        <p:spPr bwMode="auto">
          <a:xfrm>
            <a:off x="3810000" y="4648200"/>
            <a:ext cx="5029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郑少勇</a:t>
            </a:r>
            <a:endParaRPr lang="en-US" altLang="zh-CN" sz="3200" b="1" dirty="0">
              <a:latin typeface="楷体" pitchFamily="49" charset="-122"/>
              <a:ea typeface="楷体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中山大学电子与信息工程学院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619</a:t>
            </a:r>
            <a:r>
              <a:rPr lang="en-US" altLang="zh-CN" sz="2400" dirty="0"/>
              <a:t> </a:t>
            </a:r>
            <a:r>
              <a:rPr lang="en-US" altLang="zh-CN" sz="2400" dirty="0" err="1">
                <a:latin typeface="Times New Roman" pitchFamily="18" charset="0"/>
                <a:ea typeface="+mn-ea"/>
                <a:cs typeface="Times New Roman" pitchFamily="18" charset="0"/>
              </a:rPr>
              <a:t>Email:zhengshaoy@mail.sysu.edu.cn</a:t>
            </a:r>
            <a:endParaRPr lang="en-US" altLang="zh-CN" sz="24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733800" y="2971800"/>
            <a:ext cx="5029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实验二 高频功率</a:t>
            </a:r>
            <a:r>
              <a:rPr lang="zh-CN" altLang="zh-CN" sz="3200" dirty="0"/>
              <a:t>放大器</a:t>
            </a:r>
            <a:endParaRPr lang="en-US" altLang="zh-CN" sz="32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实验目的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实验目的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688" y="1828842"/>
            <a:ext cx="8153400" cy="38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/>
              <a:t>通过实验，加深对丙类功率放大器基本工作原理的理解，掌握丙类功率放大器的调谐特性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/>
              <a:t>掌握输入激励电压，集电极电源电压及负载变化对放大器工作状态的影响。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/>
              <a:t>通过实验进一步了解调幅的工作原理</a:t>
            </a:r>
          </a:p>
          <a:p>
            <a:pPr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Char char="ü"/>
              <a:defRPr/>
            </a:pPr>
            <a:endParaRPr lang="zh-CN" altLang="en-US" sz="2400" b="1" dirty="0">
              <a:solidFill>
                <a:srgbClr val="9900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60000" indent="0">
              <a:lnSpc>
                <a:spcPct val="120000"/>
              </a:lnSpc>
              <a:defRPr/>
            </a:pPr>
            <a:endParaRPr lang="zh-CN" altLang="en-US" sz="220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2676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实验内容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实验内容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688" y="1828842"/>
            <a:ext cx="8458192" cy="335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用示波器观察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前置放大级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输入输出波形，并计算其放大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倍数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用示波器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观察激励电压、电源电压及负载变化对丙类功放工作状态的影响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用示波器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测试功放调谐特性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用示波器观察输入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信号为调幅波的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输出波形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测试功放输出功率</a:t>
            </a:r>
          </a:p>
        </p:txBody>
      </p:sp>
    </p:spTree>
    <p:extLst>
      <p:ext uri="{BB962C8B-B14F-4D97-AF65-F5344CB8AC3E}">
        <p14:creationId xmlns:p14="http://schemas.microsoft.com/office/powerpoint/2010/main" val="55660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实验内容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 检查内容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688" y="1828842"/>
            <a:ext cx="8458192" cy="335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前置放大级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放大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倍数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激励电压、电源电压及负载变化对功放工作状态的影响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功放调谐特性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信号为调幅波的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输出波形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功放输出功率</a:t>
            </a:r>
          </a:p>
        </p:txBody>
      </p:sp>
    </p:spTree>
    <p:extLst>
      <p:ext uri="{BB962C8B-B14F-4D97-AF65-F5344CB8AC3E}">
        <p14:creationId xmlns:p14="http://schemas.microsoft.com/office/powerpoint/2010/main" val="477605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预习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下一个实验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688" y="1828842"/>
            <a:ext cx="8458192" cy="761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/>
              <a:t>正弦波振荡器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329794"/>
      </p:ext>
    </p:extLst>
  </p:cSld>
  <p:clrMapOvr>
    <a:masterClrMapping/>
  </p:clrMapOvr>
</p:sld>
</file>

<file path=ppt/theme/theme1.xml><?xml version="1.0" encoding="utf-8"?>
<a:theme xmlns:a="http://schemas.openxmlformats.org/drawingml/2006/main" name="1_213TGp_natural_light_v2">
  <a:themeElements>
    <a:clrScheme name="1_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1_213TGp_natural_light_v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213TGp_natural_light_v2">
  <a:themeElements>
    <a:clrScheme name="2_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2_213TGp_natural_light_v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dong</Template>
  <TotalTime>3389</TotalTime>
  <Pages>0</Pages>
  <Words>183</Words>
  <Characters>0</Characters>
  <Application>Microsoft Office PowerPoint</Application>
  <DocSecurity>0</DocSecurity>
  <PresentationFormat>全屏显示(4:3)</PresentationFormat>
  <Lines>0</Lines>
  <Paragraphs>27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楷体</vt:lpstr>
      <vt:lpstr>楷体_GB2312</vt:lpstr>
      <vt:lpstr>隶书</vt:lpstr>
      <vt:lpstr>宋体</vt:lpstr>
      <vt:lpstr>Arial</vt:lpstr>
      <vt:lpstr>Times New Roman</vt:lpstr>
      <vt:lpstr>Wingdings</vt:lpstr>
      <vt:lpstr>1_213TGp_natural_light_v2</vt:lpstr>
      <vt:lpstr>2_213TGp_natural_light_v2</vt:lpstr>
      <vt:lpstr>高频电路</vt:lpstr>
      <vt:lpstr>实验目的</vt:lpstr>
      <vt:lpstr>实验内容</vt:lpstr>
      <vt:lpstr>实验内容</vt:lpstr>
      <vt:lpstr>预习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Shawn</dc:creator>
  <cp:keywords/>
  <dc:description/>
  <cp:lastModifiedBy>Shawn Zheng</cp:lastModifiedBy>
  <cp:revision>629</cp:revision>
  <cp:lastPrinted>1601-01-01T00:00:00Z</cp:lastPrinted>
  <dcterms:created xsi:type="dcterms:W3CDTF">1601-01-01T00:00:00Z</dcterms:created>
  <dcterms:modified xsi:type="dcterms:W3CDTF">2026-05-15T12:47:34Z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2052-6.6.0.2461</vt:lpwstr>
  </property>
</Properties>
</file>